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62cc672b8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62cc672b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62cc672b8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2cc672b8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62cc672b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62cc672b8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2cc672b8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62cc672b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62cc672b8_0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rgbClr val="205867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Phase-I Evaluation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051" y="76200"/>
            <a:ext cx="2444749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3759200" y="3222625"/>
            <a:ext cx="5080000" cy="5334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914400" y="11430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alibri"/>
              <a:buNone/>
              <a:defRPr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3708400" y="3962401"/>
            <a:ext cx="5181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  <a:defRPr sz="2700">
                <a:solidFill>
                  <a:srgbClr val="366092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4400"/>
              <a:buFont typeface="Calibri"/>
              <a:buNone/>
              <a:defRPr b="1">
                <a:solidFill>
                  <a:srgbClr val="36609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Char char="•"/>
              <a:defRPr>
                <a:solidFill>
                  <a:srgbClr val="366092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31859B"/>
              </a:buClr>
              <a:buSzPts val="2800"/>
              <a:buChar char="–"/>
              <a:defRPr>
                <a:solidFill>
                  <a:srgbClr val="31859B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953734"/>
              </a:buClr>
              <a:buSzPts val="2400"/>
              <a:buChar char="•"/>
              <a:defRPr>
                <a:solidFill>
                  <a:srgbClr val="953734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E36C09"/>
              </a:buClr>
              <a:buSzPts val="2000"/>
              <a:buChar char="–"/>
              <a:defRPr>
                <a:solidFill>
                  <a:srgbClr val="E36C09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" y="6356351"/>
            <a:ext cx="1538817" cy="47148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>
            <a:off x="2336801" y="6356351"/>
            <a:ext cx="9842500" cy="46525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Phase-I Evaluation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3" name="Google Shape;63;p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5" name="Google Shape;65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1" y="5943600"/>
            <a:ext cx="153881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2336801" y="5943600"/>
            <a:ext cx="9842500" cy="3810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 Year Defense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4400"/>
              <a:buFont typeface="Calibri"/>
              <a:buNone/>
              <a:defRPr b="1">
                <a:solidFill>
                  <a:srgbClr val="36609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Char char="•"/>
              <a:defRPr>
                <a:solidFill>
                  <a:srgbClr val="366092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31859B"/>
              </a:buClr>
              <a:buSzPts val="2800"/>
              <a:buChar char="–"/>
              <a:defRPr>
                <a:solidFill>
                  <a:srgbClr val="31859B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953734"/>
              </a:buClr>
              <a:buSzPts val="2400"/>
              <a:buChar char="•"/>
              <a:defRPr>
                <a:solidFill>
                  <a:srgbClr val="953734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E36C09"/>
              </a:buClr>
              <a:buSzPts val="2000"/>
              <a:buChar char="–"/>
              <a:defRPr>
                <a:solidFill>
                  <a:srgbClr val="E36C09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914400" y="11430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Algorithmic Framework for Chemically Stable DNA Data Storage: Minimizing Data Loss using XOR-Based Data Whitening and Dynamic Error Correction</a:t>
            </a:r>
            <a:endParaRPr b="0" sz="3000"/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3871700" y="4009275"/>
            <a:ext cx="48006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75"/>
              <a:buNone/>
            </a:pPr>
            <a:r>
              <a:t/>
            </a:r>
            <a:endParaRPr b="1" sz="97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</a:pPr>
            <a:r>
              <a:rPr b="1"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Mubarak Hossain Razwan</a:t>
            </a:r>
            <a:endParaRPr sz="2727"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</a:pPr>
            <a:r>
              <a:rPr b="1"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 : </a:t>
            </a:r>
            <a:r>
              <a:rPr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02423100005101027</a:t>
            </a:r>
            <a:endParaRPr sz="2727"/>
          </a:p>
          <a:p>
            <a:pPr indent="0" lvl="0" marL="0" rtl="0" algn="ctr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Clr>
                <a:srgbClr val="00B050"/>
              </a:buClr>
              <a:buSzPts val="750"/>
              <a:buNone/>
            </a:pPr>
            <a:r>
              <a:rPr lang="en-US" sz="179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2727"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</a:pPr>
            <a:r>
              <a:rPr b="1"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Sazzadul Islam Shaon</a:t>
            </a:r>
            <a:endParaRPr sz="2727"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</a:pPr>
            <a:r>
              <a:rPr b="1"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 : </a:t>
            </a:r>
            <a:r>
              <a:rPr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02423100005101028</a:t>
            </a:r>
            <a:endParaRPr sz="2727"/>
          </a:p>
          <a:p>
            <a:pPr indent="0" lvl="0" marL="0" rtl="0" algn="ctr">
              <a:lnSpc>
                <a:spcPct val="80000"/>
              </a:lnSpc>
              <a:spcBef>
                <a:spcPts val="40"/>
              </a:spcBef>
              <a:spcAft>
                <a:spcPts val="0"/>
              </a:spcAft>
              <a:buClr>
                <a:srgbClr val="366092"/>
              </a:buClr>
              <a:buSzPts val="125"/>
              <a:buNone/>
            </a:pPr>
            <a:r>
              <a:t/>
            </a:r>
            <a:endParaRPr sz="11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</a:pPr>
            <a:r>
              <a:rPr b="1"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</a:t>
            </a:r>
            <a:r>
              <a:rPr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</a:t>
            </a:r>
            <a:endParaRPr sz="2727"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</a:pPr>
            <a:r>
              <a:rPr lang="en-US" sz="216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Daffodil International University</a:t>
            </a:r>
            <a:endParaRPr sz="2727"/>
          </a:p>
          <a:p>
            <a:pPr indent="0" lvl="0" marL="0" rtl="0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366092"/>
              </a:buClr>
              <a:buSzPts val="1750"/>
              <a:buNone/>
            </a:pPr>
            <a:r>
              <a:t/>
            </a:r>
            <a:endParaRPr sz="2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ts val="1688"/>
              <a:buNone/>
            </a:pPr>
            <a:r>
              <a:t/>
            </a:r>
            <a:endParaRPr sz="2288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1981200" y="274638"/>
            <a:ext cx="82296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1436050" y="1661900"/>
            <a:ext cx="5221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Study/Literature Review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of this Study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Datasets, Tools and Techniques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30" name="Google Shape;130;p18"/>
          <p:cNvSpPr txBox="1"/>
          <p:nvPr>
            <p:ph idx="1" type="body"/>
          </p:nvPr>
        </p:nvSpPr>
        <p:spPr>
          <a:xfrm>
            <a:off x="609600" y="1313875"/>
            <a:ext cx="10972800" cy="48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631"/>
              <a:buNone/>
            </a:pPr>
            <a:r>
              <a:rPr b="1"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Problem:</a:t>
            </a:r>
            <a:r>
              <a:rPr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world is creating data way too fast—we hit 221 Zettabytes in 2026, and traditional hard drives and silicon chips simply can't keep up.</a:t>
            </a:r>
            <a:endParaRPr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631"/>
              <a:buFont typeface="Arial"/>
              <a:buNone/>
            </a:pPr>
            <a:r>
              <a:t/>
            </a:r>
            <a:endParaRPr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631"/>
              <a:buNone/>
            </a:pPr>
            <a:r>
              <a:rPr b="1"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Solution:</a:t>
            </a:r>
            <a:r>
              <a:rPr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Synthetic DNA can store massive amounts of data in tiny spaces for thousands of years with almost no maintenance.</a:t>
            </a:r>
            <a:endParaRPr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631"/>
              <a:buFont typeface="Arial"/>
              <a:buNone/>
            </a:pPr>
            <a:r>
              <a:t/>
            </a:r>
            <a:endParaRPr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631"/>
              <a:buNone/>
            </a:pPr>
            <a:r>
              <a:rPr b="1"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Catch:</a:t>
            </a:r>
            <a:r>
              <a:rPr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Converting digital 0s and 1s into DNA letters {A, C, G, T} needs a reliable software pipeline so nothing gets scrambled.</a:t>
            </a:r>
            <a:endParaRPr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631"/>
              <a:buFont typeface="Arial"/>
              <a:buNone/>
            </a:pPr>
            <a:r>
              <a:t/>
            </a:r>
            <a:endParaRPr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631"/>
              <a:buFont typeface="Arial"/>
              <a:buNone/>
            </a:pPr>
            <a:r>
              <a:t/>
            </a:r>
            <a:endParaRPr b="1"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a working parser that converts </a:t>
            </a:r>
            <a:r>
              <a:rPr lang="en-US" sz="3087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.TXT</a:t>
            </a:r>
            <a:r>
              <a:rPr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087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.PDF</a:t>
            </a:r>
            <a:r>
              <a:rPr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files into DNA code and back without losing data.</a:t>
            </a:r>
            <a:endParaRPr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5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08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a Dynamic Programming alignment module to test accuracy and pinpoint any exact data loss.</a:t>
            </a:r>
            <a:endParaRPr sz="308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1524000" y="228600"/>
            <a:ext cx="91440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Study/Literature Review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510375" y="1096950"/>
            <a:ext cx="11280000" cy="49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 Giants are Moving to DNA: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Companies like Microsoft and researchers worldwide are actively testing DNA for long-term data archiving.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the Translation Works: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It’s simple in theory—we map binary pairs to the four DNA letters: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(Adenine)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(Cytosine)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10              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(Guanine)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(Thymine)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Major Bottleneck: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Biological storage is extremely noisy. When you synthesize or sequence real DNA, you get mutations like missing bases, extra bases, or swapped letters.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Existing Fixes: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Researchers use mathematical Error Correction Codes (like Reed-Solomon, HEDGES, or Deep Learning) to recover lost data.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9" name="Google Shape;139;p19"/>
          <p:cNvCxnSpPr/>
          <p:nvPr/>
        </p:nvCxnSpPr>
        <p:spPr>
          <a:xfrm>
            <a:off x="1879701" y="4180401"/>
            <a:ext cx="97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9"/>
          <p:cNvCxnSpPr/>
          <p:nvPr/>
        </p:nvCxnSpPr>
        <p:spPr>
          <a:xfrm>
            <a:off x="1871975" y="3101501"/>
            <a:ext cx="97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1857476" y="3443499"/>
            <a:ext cx="97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1879707" y="3812250"/>
            <a:ext cx="97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</a:t>
            </a:r>
            <a:endParaRPr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609600" y="1325200"/>
            <a:ext cx="10972800" cy="46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Encoding Is Unsafe:</a:t>
            </a:r>
            <a:r>
              <a:rPr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Simply mapping 0s and 1s straight into DNA sequences sounds easy, but it creates major physical chemistry problems in a laboratory setting.</a:t>
            </a:r>
            <a:endParaRPr sz="1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Chemical Instability Risks:</a:t>
            </a:r>
            <a:r>
              <a:rPr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Direct conversion causes long runs of identical bases (homopolymers) and severe GC-content imbalance. Both make DNA synthesis fail or mutate heavily.</a:t>
            </a:r>
            <a:endParaRPr sz="1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Software Ignores Physical Limits:</a:t>
            </a:r>
            <a:r>
              <a:rPr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Existing baseline algorithms often overlook these chemical constraints entirely during the initial encoding phase.</a:t>
            </a:r>
            <a:endParaRPr sz="1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Our Project Fills the Gap:</a:t>
            </a:r>
            <a:endParaRPr b="1" sz="1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built a universal Encoder/Decoder pipeline and a Dynamic Programming accuracy tester in Phase 1 to establish a stable digital baseline.</a:t>
            </a:r>
            <a:endParaRPr sz="1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US" sz="19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baseline is required before we can safely apply chemical filtering (XOR whitening) and Error Correction Codes (ECC) in the next phases.</a:t>
            </a:r>
            <a:endParaRPr sz="1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Clr>
                <a:srgbClr val="366092"/>
              </a:buClr>
              <a:buSzPts val="3000"/>
              <a:buNone/>
            </a:pPr>
            <a:r>
              <a:t/>
            </a:r>
            <a:endParaRPr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609600" y="1267200"/>
            <a:ext cx="10972800" cy="48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50"/>
              <a:buChar char="●"/>
            </a:pPr>
            <a:r>
              <a:rPr b="1"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Universal Parser (Phase 1):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Design a lossless Encoder/Decoder pipeline to convert </a:t>
            </a:r>
            <a:r>
              <a:rPr lang="en-US" sz="2050">
                <a:solidFill>
                  <a:srgbClr val="188038"/>
                </a:solidFill>
                <a:highlight>
                  <a:srgbClr val="F2F0F0"/>
                </a:highlight>
                <a:latin typeface="Arial"/>
                <a:ea typeface="Arial"/>
                <a:cs typeface="Arial"/>
                <a:sym typeface="Arial"/>
              </a:rPr>
              <a:t>.TXT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050">
                <a:solidFill>
                  <a:srgbClr val="188038"/>
                </a:solidFill>
                <a:highlight>
                  <a:srgbClr val="F2F0F0"/>
                </a:highlight>
                <a:latin typeface="Arial"/>
                <a:ea typeface="Arial"/>
                <a:cs typeface="Arial"/>
                <a:sym typeface="Arial"/>
              </a:rPr>
              <a:t>.PDF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files into binary and DNA sequences, then restore them completely.</a:t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50"/>
              <a:buChar char="●"/>
            </a:pPr>
            <a:r>
              <a:rPr b="1"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DP Accuracy Tester (Phase 1):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Build a Dynamic Programming alignment module to precisely measure precision, error rates, and data loss.</a:t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50"/>
              <a:buChar char="●"/>
            </a:pPr>
            <a:r>
              <a:rPr b="1"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XOR Data Whitening (Phase 2):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Implement XOR masking algorithms to keep GC-content stable between 40–60% and prevent chemical failure.</a:t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50"/>
              <a:buChar char="●"/>
            </a:pPr>
            <a:r>
              <a:rPr b="1"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Compression &amp; ECC (Phase 2):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Apply Huffman Coding for sequence compression and integrated Error Correction Codes (Reed-Solomon) to prevent biological data loss.</a:t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000"/>
              <a:buNone/>
            </a:pPr>
            <a:r>
              <a:t/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Motivation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609600" y="1676400"/>
            <a:ext cx="10972800" cy="439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Silicon Limits: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Traditional storage media cannot sustain the world's 221 Zettabyte data explosion and ~50% annual growth.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Massive Density: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Synthetic DNA packs enormous volumes of digital data into microscopic samples lasting thousands of years.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Need: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Biological channels are noisy; robust software is needed to make digital-to-DNA translation stable and accurate.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Sustainability: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Replaces energy-intensive server farms with low-energy biological archiving.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50"/>
          </a:p>
        </p:txBody>
      </p:sp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of this Study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609600" y="1296200"/>
            <a:ext cx="10972800" cy="4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Universal Lossless Parser: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Unlike basic models, our Phase 1 engine seamlessly converts complex </a:t>
            </a:r>
            <a:r>
              <a:rPr lang="en-US" sz="205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.PDF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structures alongside </a:t>
            </a:r>
            <a:r>
              <a:rPr lang="en-US" sz="205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.TXT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files without metadata loss or format corruption.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Programming Accuracy Tester: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Uses Levenshtein sequence alignment to detect exact character-level loss, errors, and mutations directly within the software pipeline.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Pre-Synthesis Chemical Balancing (Upcoming):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Solves wet-lab failures by introducing an XOR-based data whitening algorithm to maintain a stable 40–60% GC-content.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In-Silico Pipeline: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Eliminates costly wet-lab experiments by fully simulating biological noise, error rates, and sequence reconstruction computationally.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000"/>
              <a:buNone/>
            </a:pPr>
            <a:r>
              <a:t/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1371600" y="350838"/>
            <a:ext cx="94488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Datasets, Tools and Techniques</a:t>
            </a:r>
            <a:endParaRPr/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609600" y="1339700"/>
            <a:ext cx="10972800" cy="48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Benchmark Datasets (Corpus):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Sample electronic </a:t>
            </a:r>
            <a:r>
              <a:rPr lang="en-US" sz="205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.TXT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05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.PDF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documents used to test full computational reconstruction.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Software Tools: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Built in </a:t>
            </a: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 3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</a:t>
            </a: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Colaboratory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the primary development environment.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Python Libraries:</a:t>
            </a:r>
            <a:endParaRPr b="1"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0"/>
              <a:buFont typeface="Arial"/>
              <a:buChar char="•"/>
            </a:pPr>
            <a:r>
              <a:rPr lang="en-US" sz="205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PyPDF2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Custom parsing to extract pure, raw text content from complex PDF structures.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0"/>
              <a:buFont typeface="Arial"/>
              <a:buChar char="•"/>
            </a:pPr>
            <a:r>
              <a:rPr lang="en-US" sz="205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Generating real-time telemetry graphs for precision and error density monitoring.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50"/>
              <a:buFont typeface="Arial"/>
              <a:buChar char="•"/>
            </a:pPr>
            <a:r>
              <a:rPr lang="en-US" sz="2050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difflib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Supporting exact sequence matching and sequence alignment operations..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Clr>
                <a:srgbClr val="366092"/>
              </a:buClr>
              <a:buSzPts val="3000"/>
              <a:buNone/>
            </a:pPr>
            <a:r>
              <a:t/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609600" y="748475"/>
            <a:ext cx="10972800" cy="396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Algorithmic Techniques:</a:t>
            </a:r>
            <a:endParaRPr b="1"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●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&amp; DNA Encoding/Decoding: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Translating text to ASCII, 8-bit binary, and mapping pairs directly to biological bases {A, C, G, T}.</a:t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50"/>
              <a:buChar char="●"/>
            </a:pPr>
            <a:r>
              <a:rPr b="1"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Programming:</a:t>
            </a:r>
            <a:r>
              <a:rPr lang="en-US" sz="2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Sequence alignment (Levenshtein Edit Distance) to mathematically evaluate accuracy, true positives, and exact character loss</a:t>
            </a:r>
            <a:endParaRPr/>
          </a:p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sp>
        <p:nvSpPr>
          <p:cNvPr id="191" name="Google Shape;191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225" y="1143000"/>
            <a:ext cx="9383401" cy="521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438" y="500700"/>
            <a:ext cx="9691125" cy="52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 </a:t>
            </a:r>
            <a:endParaRPr/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50"/>
              <a:buChar char="●"/>
            </a:pPr>
            <a:r>
              <a:rPr b="1"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Lossless File Recovery: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Achieve 100% data reconstruction precision (0% error rate) across both simple </a:t>
            </a:r>
            <a:r>
              <a:rPr lang="en-US" sz="2050">
                <a:solidFill>
                  <a:srgbClr val="188038"/>
                </a:solidFill>
                <a:highlight>
                  <a:srgbClr val="F2F0F0"/>
                </a:highlight>
                <a:latin typeface="Arial"/>
                <a:ea typeface="Arial"/>
                <a:cs typeface="Arial"/>
                <a:sym typeface="Arial"/>
              </a:rPr>
              <a:t>.TXT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and complex </a:t>
            </a:r>
            <a:r>
              <a:rPr lang="en-US" sz="2050">
                <a:solidFill>
                  <a:srgbClr val="188038"/>
                </a:solidFill>
                <a:highlight>
                  <a:srgbClr val="F2F0F0"/>
                </a:highlight>
                <a:latin typeface="Arial"/>
                <a:ea typeface="Arial"/>
                <a:cs typeface="Arial"/>
                <a:sym typeface="Arial"/>
              </a:rPr>
              <a:t>.PDF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file formats.</a:t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50"/>
              <a:buChar char="●"/>
            </a:pPr>
            <a:r>
              <a:rPr b="1"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Chemically Stable DNA Sequences: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Lock GC-content strictly within the safe 40–60% range and eliminate homopolymer runs via XOR data whitening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50"/>
              <a:buChar char="●"/>
            </a:pPr>
            <a:r>
              <a:rPr b="1"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Biological Noise Resilience: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Maintain accurate sequence decoding even under simulated synthetic insertion, deletion, and substitution mutations.</a:t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87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50"/>
              <a:buChar char="●"/>
            </a:pPr>
            <a:r>
              <a:rPr b="1"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Quantifiable Pipeline Benchmarks:</a:t>
            </a:r>
            <a:r>
              <a:rPr lang="en-US" sz="205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Deliver real-time visual telemetry, alignment matrices, and precision logs through the Dynamic Programming testing framework.</a:t>
            </a:r>
            <a:endParaRPr sz="205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000"/>
              <a:buNone/>
            </a:pPr>
            <a:r>
              <a:t/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609600" y="14478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6000"/>
              <a:buNone/>
            </a:pPr>
            <a:r>
              <a:t/>
            </a:r>
            <a:endParaRPr b="1" sz="60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7030A0"/>
              </a:buClr>
              <a:buSzPts val="6000"/>
              <a:buNone/>
            </a:pPr>
            <a:r>
              <a:rPr b="1" lang="en-US" sz="60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  <a:p>
            <a:pPr indent="0" lvl="0" marL="0" rtl="0" algn="r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3000"/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w Microsoft PowerPoint Presentatio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